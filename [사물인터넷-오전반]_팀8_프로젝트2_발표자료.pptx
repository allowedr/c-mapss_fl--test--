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DE16C651-16D3-44ED-920F-2C81CB2CD7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30F72C-31E5-6EBD-EE88-093483DADDF9}" name="강한성" initials="컴강" userId="S::20211867@o365.hanbat.ac.kr::53d3d114-6346-491a-99bc-54cbb5e08a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9D51A4-FB53-46E7-B63D-93EBFA868569}">
  <a:tblStyle styleId="{C29D51A4-FB53-46E7-B63D-93EBFA86856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0" y="1990873"/>
            <a:ext cx="121920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연합학습 기반</a:t>
            </a:r>
            <a:br>
              <a:rPr lang="ko-KR" alt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ko-KR" altLang="en-US" sz="4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항공기 엔진 </a:t>
            </a:r>
            <a:r>
              <a:rPr lang="en-US" sz="4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RUL </a:t>
            </a:r>
            <a:r>
              <a:rPr lang="ko-KR" altLang="en-US" sz="4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예측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619750" y="3556545"/>
            <a:ext cx="952500" cy="5715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3994695"/>
            <a:ext cx="12192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+mn-ea"/>
                <a:ea typeface="+mn-ea"/>
              </a:rPr>
              <a:t>-------------------------------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0" y="4726185"/>
            <a:ext cx="12192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오전</a:t>
            </a:r>
            <a:r>
              <a:rPr lang="ko-KR" altLang="en-US" sz="165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65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8</a:t>
            </a:r>
            <a:r>
              <a:rPr lang="ko-KR" altLang="en-US" sz="165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팀 </a:t>
            </a:r>
            <a:r>
              <a:rPr lang="en-US" altLang="ko-KR" sz="165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| 2025. 11. </a:t>
            </a:r>
            <a:r>
              <a:rPr lang="en-US" altLang="ko-KR" sz="165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r>
              <a:rPr lang="en-US" altLang="ko-KR" sz="165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8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0" y="5556646"/>
            <a:ext cx="121920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20211886 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이기민   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20211867 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강한성</a:t>
            </a:r>
            <a:endParaRPr lang="ko-KR" altLang="en-US">
              <a:latin typeface="+mn-ea"/>
              <a:ea typeface="+mn-ea"/>
            </a:endParaRPr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943123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57537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3157537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157537"/>
            <a:ext cx="2571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53500" y="3157537"/>
            <a:ext cx="25717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1563350" y="6515100"/>
            <a:ext cx="342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2 / 14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81000" y="195262"/>
            <a:ext cx="4095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Index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2062162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발표 목차 </a:t>
            </a:r>
            <a:r>
              <a:rPr lang="en-US" altLang="ko-KR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Table of Contents)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66750" y="2062162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81038" y="175586"/>
            <a:ext cx="4095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14400" y="3443287"/>
            <a:ext cx="21802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ko-KR" alt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서론 </a:t>
            </a: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Why)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38623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예지 보전의 중요성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42814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 </a:t>
            </a:r>
            <a:r>
              <a:rPr lang="ko-KR" altLang="en-US" sz="1500">
                <a:solidFill>
                  <a:srgbClr val="444444"/>
                </a:solidFill>
                <a:latin typeface="+mn-ea"/>
                <a:ea typeface="+mn-ea"/>
              </a:rPr>
              <a:t>저장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문제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" y="47005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연구 목표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676650" y="3443287"/>
            <a:ext cx="21802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이론 </a:t>
            </a: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What)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3676650" y="38623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연합학습의 개념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676650" y="42814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Non-IID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676650" y="47005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FedAvg / Prox / MA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438900" y="3443287"/>
            <a:ext cx="21802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ko-KR" alt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구현 </a:t>
            </a: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How)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438900" y="38623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CMAPSS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데이터셋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438900" y="42814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 전처리 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PCA)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438900" y="47005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모델 아키텍처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9201150" y="3443287"/>
            <a:ext cx="21802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ko-KR" altLang="en-US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결과 </a:t>
            </a:r>
            <a:r>
              <a:rPr lang="en-US" altLang="ko-KR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Result)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9201150" y="38623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성능 비교 실험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9201150" y="42814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그래프 분석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9201150" y="4700587"/>
            <a:ext cx="2076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결론 및 제언</a:t>
            </a:r>
            <a:endParaRPr lang="ko-KR" alt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2611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1563350" y="6515100"/>
            <a:ext cx="342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3 / 14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 b="1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What)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How)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Result)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RUL (</a:t>
            </a:r>
            <a:r>
              <a:rPr lang="ko-KR" alt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잔존</a:t>
            </a: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유효</a:t>
            </a: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수명</a:t>
            </a:r>
            <a:r>
              <a:rPr lang="en-US" altLang="ko-KR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) </a:t>
            </a:r>
            <a:r>
              <a:rPr lang="ko-KR" alt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예측의</a:t>
            </a: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필요성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90832" y="147318"/>
            <a:ext cx="8859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666750" y="2528887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ko-KR" alt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경제적 손실 방지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66750" y="4052887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절대적 안전 확보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7026820" y="3919371"/>
            <a:ext cx="386270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5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"</a:t>
            </a:r>
            <a:r>
              <a:rPr lang="ko-KR" altLang="en-US" sz="165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언제 </a:t>
            </a:r>
            <a:r>
              <a:rPr lang="ko-KR" altLang="en-US" sz="1650" b="1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고장날지</a:t>
            </a:r>
            <a:r>
              <a:rPr lang="ko-KR" altLang="en-US" sz="165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미리 알 수 있다면</a:t>
            </a:r>
            <a:r>
              <a:rPr lang="en-US" altLang="ko-KR" sz="165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?"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629436" y="4515742"/>
            <a:ext cx="2657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Just-in-Time Maintenance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실현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50900" y="2947987"/>
            <a:ext cx="56210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항공기 엔진 고장은 막대한 지연 보상금과 수리비를 초래합니다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50900" y="3367087"/>
            <a:ext cx="56210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부품을 너무 일찍 교체하는 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'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과잉 정비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'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비용을 줄일 수 있습니다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50900" y="447198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엔진 결함은 대형 인명 사고로 직결됩니다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50900" y="4891087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사후 대응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Corrective)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이 아닌 사전 예측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Prognostics)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이 필수적입니다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660400" y="29479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660400" y="33670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660400" y="44719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660400" y="48910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4 / 14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기존 방식의 한계와 연합학습의 도입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81000" y="157150"/>
            <a:ext cx="8859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14400" y="3081337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>
                <a:solidFill>
                  <a:srgbClr val="555555"/>
                </a:solidFill>
                <a:latin typeface="+mn-ea"/>
                <a:ea typeface="+mn-ea"/>
                <a:cs typeface="Arial"/>
                <a:sym typeface="Arial"/>
              </a:rPr>
              <a:t>기존 중앙집중형 학습 </a:t>
            </a:r>
            <a:r>
              <a:rPr lang="en-US" altLang="ko-KR" sz="1800" b="1" i="0" u="none" strike="noStrike" cap="none">
                <a:solidFill>
                  <a:srgbClr val="555555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555555"/>
                </a:solidFill>
                <a:latin typeface="+mn-ea"/>
                <a:ea typeface="+mn-ea"/>
                <a:cs typeface="Arial"/>
                <a:sym typeface="Arial"/>
              </a:rPr>
              <a:t>Centralized)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591300" y="3081337"/>
            <a:ext cx="491061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연합 학습 </a:t>
            </a:r>
            <a:r>
              <a:rPr lang="en-US" altLang="ko-KR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Federated Learning)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200150" y="3500437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모든 데이터를 하나의 서버로 모아야 함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200150" y="3919537"/>
            <a:ext cx="44100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err="1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데이터</a:t>
            </a:r>
            <a:r>
              <a:rPr lang="ko-KR" altLang="en-US" sz="15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1" i="0" u="none" strike="noStrike" cap="none" err="1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프라이버시</a:t>
            </a:r>
            <a:r>
              <a:rPr lang="ko-KR" altLang="en-US" sz="15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1" i="0" u="none" strike="noStrike" cap="none" err="1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문제</a:t>
            </a:r>
            <a:r>
              <a:rPr lang="en-US" altLang="ko-KR" sz="15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항공사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/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제조사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간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민감한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설비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공유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불가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200150" y="4643437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네트워크 비용</a:t>
            </a:r>
            <a:r>
              <a:rPr lang="en-US" altLang="ko-KR" sz="15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방대한 센서 데이터 전송 부담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877050" y="3500437"/>
            <a:ext cx="4391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데이터는 각 로컬 기기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Edge)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에 남김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877050" y="3919537"/>
            <a:ext cx="4391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가중치</a:t>
            </a:r>
            <a:r>
              <a:rPr lang="en-US" altLang="ko-KR" sz="15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5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Weight)</a:t>
            </a:r>
            <a:r>
              <a:rPr lang="ko-KR" altLang="en-US" sz="15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만 공유</a:t>
            </a:r>
            <a:r>
              <a:rPr lang="en-US" altLang="ko-KR" sz="15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보안 유지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877050" y="4338637"/>
            <a:ext cx="43910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다양한 환경의 데이터를 간접적으로 학습하여 모델의 일반화 성능 향상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009650" y="35004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009650" y="39195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009650" y="46434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6686550" y="35004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6686550" y="39195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6686550" y="43386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6" name="Google Shape;128;p15">
            <a:extLst>
              <a:ext uri="{FF2B5EF4-FFF2-40B4-BE49-F238E27FC236}">
                <a16:creationId xmlns:a16="http://schemas.microsoft.com/office/drawing/2014/main" id="{C840EB8A-0C5B-F076-A3C0-70464EF33710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 b="1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7" name="Google Shape;129;p15">
            <a:extLst>
              <a:ext uri="{FF2B5EF4-FFF2-40B4-BE49-F238E27FC236}">
                <a16:creationId xmlns:a16="http://schemas.microsoft.com/office/drawing/2014/main" id="{9BFF762A-E883-5AB3-7F3A-5E9C9537AAF2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What)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8" name="Google Shape;130;p15">
            <a:extLst>
              <a:ext uri="{FF2B5EF4-FFF2-40B4-BE49-F238E27FC236}">
                <a16:creationId xmlns:a16="http://schemas.microsoft.com/office/drawing/2014/main" id="{77271CBF-44DA-B614-6571-D9398A35F32A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How)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9" name="Google Shape;131;p15">
            <a:extLst>
              <a:ext uri="{FF2B5EF4-FFF2-40B4-BE49-F238E27FC236}">
                <a16:creationId xmlns:a16="http://schemas.microsoft.com/office/drawing/2014/main" id="{E182EA4C-5E36-94BA-008D-689945BE198C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Result)</a:t>
            </a:r>
            <a:endParaRPr lang="en-US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790825"/>
            <a:ext cx="34290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790825"/>
            <a:ext cx="34290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790825"/>
            <a:ext cx="34290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5 / 14</a:t>
            </a:r>
            <a:endParaRPr>
              <a:latin typeface="+mn-ea"/>
              <a:ea typeface="+mn-ea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연합학습의 핵심 과제: Non-IID 데이터</a:t>
            </a:r>
            <a:endParaRPr>
              <a:latin typeface="+mn-ea"/>
              <a:ea typeface="+mn-ea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524000" y="157150"/>
            <a:ext cx="9906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666750" y="1666875"/>
            <a:ext cx="10858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IID (Independent and Identically Distributed):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모든 데이터가 이상적으로 고르게 분포됨</a:t>
            </a:r>
            <a:endParaRPr>
              <a:latin typeface="+mn-ea"/>
              <a:ea typeface="+mn-ea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6750" y="2085975"/>
            <a:ext cx="10858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Non-IID: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현실 세계의 데이터는 클라이언트마다 분포가 제각각임</a:t>
            </a:r>
            <a:endParaRPr>
              <a:latin typeface="+mn-ea"/>
              <a:ea typeface="+mn-ea"/>
            </a:endParaRPr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80047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841057" y="4324350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항공사 A</a:t>
            </a:r>
            <a:endParaRPr>
              <a:latin typeface="+mn-ea"/>
              <a:ea typeface="+mn-ea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914400" y="4743450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단거리 운항 위주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(이착륙 잦음)</a:t>
            </a:r>
            <a:endParaRPr>
              <a:latin typeface="+mn-ea"/>
              <a:ea typeface="+mn-ea"/>
            </a:endParaRPr>
          </a:p>
        </p:txBody>
      </p:sp>
      <p:pic>
        <p:nvPicPr>
          <p:cNvPr id="197" name="Google Shape;19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29150" y="380047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4555807" y="4324350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항공사 B</a:t>
            </a:r>
            <a:endParaRPr>
              <a:latin typeface="+mn-ea"/>
              <a:ea typeface="+mn-ea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4629150" y="4743450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장거리 운항 위주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(순항 시간 김)</a:t>
            </a:r>
            <a:endParaRPr>
              <a:latin typeface="+mn-ea"/>
              <a:ea typeface="+mn-ea"/>
            </a:endParaRPr>
          </a:p>
        </p:txBody>
      </p:sp>
      <p:pic>
        <p:nvPicPr>
          <p:cNvPr id="200" name="Google Shape;20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43900" y="380047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8270557" y="4324350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문제점</a:t>
            </a:r>
            <a:endParaRPr>
              <a:latin typeface="+mn-ea"/>
              <a:ea typeface="+mn-ea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8343900" y="4743450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단순 평균(FedAvg) 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모델 성능 저하 발생</a:t>
            </a:r>
            <a:endParaRPr>
              <a:latin typeface="+mn-ea"/>
              <a:ea typeface="+mn-ea"/>
            </a:endParaRPr>
          </a:p>
        </p:txBody>
      </p:sp>
      <p:sp>
        <p:nvSpPr>
          <p:cNvPr id="2" name="Google Shape;128;p15">
            <a:extLst>
              <a:ext uri="{FF2B5EF4-FFF2-40B4-BE49-F238E27FC236}">
                <a16:creationId xmlns:a16="http://schemas.microsoft.com/office/drawing/2014/main" id="{C78800A1-D7E3-CD0D-8D6B-6F916ECFC806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E2CEA8BC-EF18-4FD0-4E3F-04E1DECAFE14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 b="1">
              <a:latin typeface="+mn-ea"/>
              <a:ea typeface="+mn-ea"/>
            </a:endParaRPr>
          </a:p>
        </p:txBody>
      </p:sp>
      <p:sp>
        <p:nvSpPr>
          <p:cNvPr id="4" name="Google Shape;130;p15">
            <a:extLst>
              <a:ext uri="{FF2B5EF4-FFF2-40B4-BE49-F238E27FC236}">
                <a16:creationId xmlns:a16="http://schemas.microsoft.com/office/drawing/2014/main" id="{FD866E3E-DDD3-23EC-D08A-88C9180530CA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5" name="Google Shape;131;p15">
            <a:extLst>
              <a:ext uri="{FF2B5EF4-FFF2-40B4-BE49-F238E27FC236}">
                <a16:creationId xmlns:a16="http://schemas.microsoft.com/office/drawing/2014/main" id="{61564529-55E4-E1E7-65A6-D149EE0AFDEF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66875"/>
            <a:ext cx="108585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333750"/>
            <a:ext cx="108585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000625"/>
            <a:ext cx="108585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6 / 14</a:t>
            </a:r>
            <a:endParaRPr>
              <a:latin typeface="+mn-ea"/>
              <a:ea typeface="+mn-ea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해결 전략: 고급 FL 알고리즘 비교</a:t>
            </a:r>
            <a:endParaRPr>
              <a:latin typeface="+mn-ea"/>
              <a:ea typeface="+mn-ea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1524000" y="157150"/>
            <a:ext cx="9906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14400" y="2266950"/>
            <a:ext cx="142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FedAvg</a:t>
            </a:r>
            <a:endParaRPr>
              <a:latin typeface="+mn-ea"/>
              <a:ea typeface="+mn-ea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914400" y="3933825"/>
            <a:ext cx="142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FedProx</a:t>
            </a:r>
            <a:endParaRPr>
              <a:latin typeface="+mn-ea"/>
              <a:ea typeface="+mn-ea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923925" y="5600700"/>
            <a:ext cx="142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FedMA</a:t>
            </a:r>
            <a:endParaRPr>
              <a:latin typeface="+mn-ea"/>
              <a:ea typeface="+mn-ea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2628900" y="2016477"/>
            <a:ext cx="637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기본 알고리즘: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로컬 가중치의 단순 평균 (Weighted Average)</a:t>
            </a:r>
            <a:endParaRPr>
              <a:latin typeface="+mn-ea"/>
              <a:ea typeface="+mn-ea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2628900" y="2435572"/>
            <a:ext cx="46672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한계: 데이터 분포 차이가 크면 글로벌 모델이 수렴하지 않을 수 있음.</a:t>
            </a:r>
            <a:endParaRPr>
              <a:latin typeface="+mn-ea"/>
              <a:ea typeface="+mn-ea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2628900" y="3683350"/>
            <a:ext cx="7608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규제 기반 (Proximal Term):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로컬 업데이트 시 글로벌 모델과 너무 멀어지지 않도록 제약</a:t>
            </a:r>
            <a:endParaRPr>
              <a:latin typeface="+mn-ea"/>
              <a:ea typeface="+mn-ea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2628900" y="4102447"/>
            <a:ext cx="65627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효과: 스트래글러(느린 기기)와 Non-IID 환경에서 안정적임.</a:t>
            </a:r>
            <a:endParaRPr>
              <a:latin typeface="+mn-ea"/>
              <a:ea typeface="+mn-ea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2638425" y="5350225"/>
            <a:ext cx="618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매칭 기반 (Matched Averaging):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레이어별 뉴런을 매칭하여 통합</a:t>
            </a:r>
            <a:endParaRPr>
              <a:latin typeface="+mn-ea"/>
              <a:ea typeface="+mn-ea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2638424" y="5769322"/>
            <a:ext cx="55403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효과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: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단순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평균보다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훨씬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정교하게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지식을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통합하여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최고의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성능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달성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200" b="0" i="0" u="none" strike="noStrike" cap="none" err="1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가능</a:t>
            </a:r>
            <a:r>
              <a:rPr lang="en-US" sz="120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>
              <a:latin typeface="+mn-ea"/>
              <a:ea typeface="+mn-ea"/>
            </a:endParaRPr>
          </a:p>
        </p:txBody>
      </p:sp>
      <p:sp>
        <p:nvSpPr>
          <p:cNvPr id="2" name="Google Shape;128;p15">
            <a:extLst>
              <a:ext uri="{FF2B5EF4-FFF2-40B4-BE49-F238E27FC236}">
                <a16:creationId xmlns:a16="http://schemas.microsoft.com/office/drawing/2014/main" id="{1F32DADD-96C4-82E0-0FEA-A4FA3B6020F1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CF0F0FA8-7074-B4FC-60A8-F1F934E2EC58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 b="1">
              <a:latin typeface="+mn-ea"/>
              <a:ea typeface="+mn-ea"/>
            </a:endParaRPr>
          </a:p>
        </p:txBody>
      </p:sp>
      <p:sp>
        <p:nvSpPr>
          <p:cNvPr id="4" name="Google Shape;130;p15">
            <a:extLst>
              <a:ext uri="{FF2B5EF4-FFF2-40B4-BE49-F238E27FC236}">
                <a16:creationId xmlns:a16="http://schemas.microsoft.com/office/drawing/2014/main" id="{240BF40C-CC06-F568-8502-6D233B4A2B12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5" name="Google Shape;131;p15">
            <a:extLst>
              <a:ext uri="{FF2B5EF4-FFF2-40B4-BE49-F238E27FC236}">
                <a16:creationId xmlns:a16="http://schemas.microsoft.com/office/drawing/2014/main" id="{C25F7C2D-39B8-745E-6FC5-A28BBBFEED7F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7 / 14</a:t>
            </a:r>
            <a:endParaRPr>
              <a:latin typeface="+mn-ea"/>
              <a:ea typeface="+mn-ea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데이터셋 소개: NASA C-MAPSS FD004</a:t>
            </a:r>
            <a:endParaRPr>
              <a:latin typeface="+mn-ea"/>
              <a:ea typeface="+mn-ea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2762250" y="15715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66750" y="2495550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왜 FD004인가?</a:t>
            </a:r>
            <a:endParaRPr>
              <a:latin typeface="+mn-ea"/>
              <a:ea typeface="+mn-ea"/>
            </a:endParaRPr>
          </a:p>
        </p:txBody>
      </p:sp>
      <p:graphicFrame>
        <p:nvGraphicFramePr>
          <p:cNvPr id="243" name="Google Shape;243;p19"/>
          <p:cNvGraphicFramePr/>
          <p:nvPr>
            <p:extLst>
              <p:ext uri="{D42A27DB-BD31-4B8C-83A1-F6EECF244321}">
                <p14:modId xmlns:p14="http://schemas.microsoft.com/office/powerpoint/2010/main" val="1357233759"/>
              </p:ext>
            </p:extLst>
          </p:nvPr>
        </p:nvGraphicFramePr>
        <p:xfrm>
          <a:off x="666750" y="4343400"/>
          <a:ext cx="5191100" cy="1304925"/>
        </p:xfrm>
        <a:graphic>
          <a:graphicData uri="http://schemas.openxmlformats.org/drawingml/2006/table">
            <a:tbl>
              <a:tblPr firstRow="1" bandRow="1">
                <a:noFill/>
                <a:tableStyleId>{C29D51A4-FB53-46E7-B63D-93EBFA868569}</a:tableStyleId>
              </a:tblPr>
              <a:tblGrid>
                <a:gridCol w="11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작동 조건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고장 모드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</a:t>
                      </a:r>
                      <a:r>
                        <a:rPr lang="ko-KR" alt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엔진 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FD001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FD004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4" name="Google Shape;244;p19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581775" y="2414141"/>
            <a:ext cx="4695825" cy="2347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6581775" y="4969222"/>
            <a:ext cx="46958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[Image of Jet Engine Diagram]</a:t>
            </a:r>
            <a:endParaRPr>
              <a:latin typeface="+mn-ea"/>
              <a:ea typeface="+mn-ea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6581775" y="5327302"/>
            <a:ext cx="4695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21개의 센서 데이터가 시계열로 제공됨.</a:t>
            </a:r>
            <a:endParaRPr>
              <a:latin typeface="+mn-ea"/>
              <a:ea typeface="+mn-ea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952500" y="2914650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C-MAPSS 데이터셋 중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가장 난이도가 높음</a:t>
            </a:r>
            <a:endParaRPr>
              <a:latin typeface="+mn-ea"/>
              <a:ea typeface="+mn-ea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952500" y="3333750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6가지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작동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조건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(Operating Conditions)이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섞여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있음</a:t>
            </a:r>
            <a:endParaRPr>
              <a:latin typeface="+mn-ea"/>
              <a:ea typeface="+mn-ea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952500" y="3752850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2가지 복합 고장 모드(HPC, Fan) 포함</a:t>
            </a:r>
            <a:endParaRPr>
              <a:latin typeface="+mn-ea"/>
              <a:ea typeface="+mn-ea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762000" y="2914650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762000" y="3333750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762000" y="3752850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66750" y="5195887"/>
            <a:ext cx="118958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856333" y="5195887"/>
            <a:ext cx="124360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099941" y="5195887"/>
            <a:ext cx="124360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343548" y="5195887"/>
            <a:ext cx="151432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66750" y="5634037"/>
            <a:ext cx="118958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856333" y="5634037"/>
            <a:ext cx="124360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099941" y="5634037"/>
            <a:ext cx="124360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343548" y="5634037"/>
            <a:ext cx="151432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" name="Google Shape;128;p15">
            <a:extLst>
              <a:ext uri="{FF2B5EF4-FFF2-40B4-BE49-F238E27FC236}">
                <a16:creationId xmlns:a16="http://schemas.microsoft.com/office/drawing/2014/main" id="{034E387F-0BBC-BF9C-E44D-17453E202336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38E383CF-7EE9-B711-8EC2-C97155BA5548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4" name="Google Shape;130;p15">
            <a:extLst>
              <a:ext uri="{FF2B5EF4-FFF2-40B4-BE49-F238E27FC236}">
                <a16:creationId xmlns:a16="http://schemas.microsoft.com/office/drawing/2014/main" id="{ED1E04F1-1629-D61F-694C-0E90F977CA05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 b="1">
              <a:latin typeface="+mn-ea"/>
              <a:ea typeface="+mn-ea"/>
            </a:endParaRPr>
          </a:p>
        </p:txBody>
      </p:sp>
      <p:sp>
        <p:nvSpPr>
          <p:cNvPr id="5" name="Google Shape;131;p15">
            <a:extLst>
              <a:ext uri="{FF2B5EF4-FFF2-40B4-BE49-F238E27FC236}">
                <a16:creationId xmlns:a16="http://schemas.microsoft.com/office/drawing/2014/main" id="{5A2CF880-E2E2-38F2-767E-15D3854D4171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66875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666875"/>
            <a:ext cx="3429000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666875"/>
            <a:ext cx="342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8 / 14</a:t>
            </a:r>
            <a:endParaRPr>
              <a:latin typeface="+mn-ea"/>
              <a:ea typeface="+mn-ea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데이터 전처리 파이프라인 (Preprocessing)</a:t>
            </a:r>
            <a:endParaRPr>
              <a:latin typeface="+mn-ea"/>
              <a:ea typeface="+mn-ea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2762250" y="15715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914400" y="2986087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1. 정규화</a:t>
            </a:r>
            <a:endParaRPr>
              <a:latin typeface="+mn-ea"/>
              <a:ea typeface="+mn-ea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914400" y="3405187"/>
            <a:ext cx="2933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(Normalization)</a:t>
            </a:r>
            <a:endParaRPr>
              <a:latin typeface="+mn-ea"/>
              <a:ea typeface="+mn-ea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914400" y="4129087"/>
            <a:ext cx="2933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Min-Max Scaling을 통해 모든 센서 값을 0~1 사이로 변환하여 모델 학습 안정화</a:t>
            </a:r>
            <a:endParaRPr>
              <a:latin typeface="+mn-ea"/>
              <a:ea typeface="+mn-ea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629150" y="3138487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2. 윈도우 슬라이싱</a:t>
            </a:r>
            <a:endParaRPr>
              <a:latin typeface="+mn-ea"/>
              <a:ea typeface="+mn-ea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629150" y="3557587"/>
            <a:ext cx="2933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(Sliding Window)</a:t>
            </a:r>
            <a:endParaRPr>
              <a:latin typeface="+mn-ea"/>
              <a:ea typeface="+mn-ea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559280" y="4281487"/>
            <a:ext cx="30734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시계열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특성을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반영하기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위해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연속된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데이터를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묶음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(Window Size: 30)</a:t>
            </a:r>
            <a:endParaRPr>
              <a:latin typeface="+mn-ea"/>
              <a:ea typeface="+mn-ea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8353425" y="2986087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3. 차원 축소 (PCA)</a:t>
            </a:r>
            <a:endParaRPr>
              <a:latin typeface="+mn-ea"/>
              <a:ea typeface="+mn-ea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8353425" y="3405187"/>
            <a:ext cx="2914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(Principal Component Analysis)</a:t>
            </a:r>
            <a:endParaRPr>
              <a:latin typeface="+mn-ea"/>
              <a:ea typeface="+mn-ea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8353425" y="4129087"/>
            <a:ext cx="29146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핵심 전략: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노이즈가 많은 21개 센서 데이터를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3개의 주성분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으로 압축하여 학습 효율 증대</a:t>
            </a:r>
            <a:endParaRPr>
              <a:latin typeface="+mn-ea"/>
              <a:ea typeface="+mn-ea"/>
            </a:endParaRPr>
          </a:p>
        </p:txBody>
      </p:sp>
      <p:sp>
        <p:nvSpPr>
          <p:cNvPr id="2" name="Google Shape;128;p15">
            <a:extLst>
              <a:ext uri="{FF2B5EF4-FFF2-40B4-BE49-F238E27FC236}">
                <a16:creationId xmlns:a16="http://schemas.microsoft.com/office/drawing/2014/main" id="{A1480F60-8B14-D20E-5066-99A93E9A2E85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A66204A8-F00A-53F5-8729-E7F014E77F3B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4" name="Google Shape;130;p15">
            <a:extLst>
              <a:ext uri="{FF2B5EF4-FFF2-40B4-BE49-F238E27FC236}">
                <a16:creationId xmlns:a16="http://schemas.microsoft.com/office/drawing/2014/main" id="{5CD31B5B-5476-FA78-7EF6-BF1C1EE309BF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 b="1">
              <a:latin typeface="+mn-ea"/>
              <a:ea typeface="+mn-ea"/>
            </a:endParaRPr>
          </a:p>
        </p:txBody>
      </p:sp>
      <p:sp>
        <p:nvSpPr>
          <p:cNvPr id="5" name="Google Shape;131;p15">
            <a:extLst>
              <a:ext uri="{FF2B5EF4-FFF2-40B4-BE49-F238E27FC236}">
                <a16:creationId xmlns:a16="http://schemas.microsoft.com/office/drawing/2014/main" id="{68F74850-FE7B-E812-6976-56700657218F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11553825" y="6515100"/>
            <a:ext cx="352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9 / 14</a:t>
            </a:r>
            <a:endParaRPr>
              <a:latin typeface="+mn-ea"/>
              <a:ea typeface="+mn-ea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실험 환경 및 하이퍼파라미터</a:t>
            </a:r>
            <a:endParaRPr>
              <a:latin typeface="+mn-ea"/>
              <a:ea typeface="+mn-ea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2762250" y="157150"/>
            <a:ext cx="914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66750" y="2309812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System Specs</a:t>
            </a:r>
            <a:endParaRPr>
              <a:latin typeface="+mn-ea"/>
              <a:ea typeface="+mn-ea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666750" y="4950142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Federated Settings</a:t>
            </a:r>
            <a:endParaRPr>
              <a:latin typeface="+mn-ea"/>
              <a:ea typeface="+mn-ea"/>
            </a:endParaRPr>
          </a:p>
        </p:txBody>
      </p:sp>
      <p:graphicFrame>
        <p:nvGraphicFramePr>
          <p:cNvPr id="302" name="Google Shape;302;p21"/>
          <p:cNvGraphicFramePr/>
          <p:nvPr>
            <p:extLst>
              <p:ext uri="{D42A27DB-BD31-4B8C-83A1-F6EECF244321}">
                <p14:modId xmlns:p14="http://schemas.microsoft.com/office/powerpoint/2010/main" val="2635383306"/>
              </p:ext>
            </p:extLst>
          </p:nvPr>
        </p:nvGraphicFramePr>
        <p:xfrm>
          <a:off x="6581775" y="2857500"/>
          <a:ext cx="4695825" cy="2619325"/>
        </p:xfrm>
        <a:graphic>
          <a:graphicData uri="http://schemas.openxmlformats.org/drawingml/2006/table">
            <a:tbl>
              <a:tblPr firstRow="1" bandRow="1">
                <a:noFill/>
                <a:tableStyleId>{C29D51A4-FB53-46E7-B63D-93EBFA868569}</a:tableStyleId>
              </a:tblPr>
              <a:tblGrid>
                <a:gridCol w="197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i="0" u="none" strike="noStrike" cap="none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하이퍼파라미터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i="0" u="none" strike="noStrike" cap="none" err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학습률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err="1"/>
                        <a:t>옵티마이저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손실 함수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MSE (Mean Squared Error)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PCA Components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Google Shape;303;p21"/>
          <p:cNvSpPr txBox="1"/>
          <p:nvPr/>
        </p:nvSpPr>
        <p:spPr>
          <a:xfrm>
            <a:off x="952500" y="272891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Language: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Python 3.12.12</a:t>
            </a:r>
            <a:endParaRPr>
              <a:latin typeface="+mn-ea"/>
              <a:ea typeface="+mn-ea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952500" y="3148012"/>
            <a:ext cx="4905375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Framework: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</a:p>
          <a:p>
            <a:pPr lvl="0">
              <a:lnSpc>
                <a:spcPct val="160000"/>
              </a:lnSpc>
            </a:pPr>
            <a:r>
              <a:rPr lang="en-US" altLang="ko-KR">
                <a:sym typeface="Wingdings" panose="05000000000000000000" pitchFamily="2" charset="2"/>
              </a:rPr>
              <a:t></a:t>
            </a:r>
            <a:r>
              <a:rPr lang="en-US" altLang="ko-KR"/>
              <a:t>TensorFlow: 2.19.0     </a:t>
            </a: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 err="1"/>
              <a:t>Keras</a:t>
            </a:r>
            <a:r>
              <a:rPr lang="en-US" altLang="ko-KR"/>
              <a:t>: 3.10.0            </a:t>
            </a: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NumPy: 2.0.2 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Pandas: 2.2.2             </a:t>
            </a: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Scikit-learn: 1.6.1     </a:t>
            </a: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SciPy: 1.16.3 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Matplotlib: 3.10.0        </a:t>
            </a:r>
            <a:r>
              <a:rPr lang="en-US" altLang="ko-KR">
                <a:sym typeface="Wingdings" panose="05000000000000000000" pitchFamily="2" charset="2"/>
              </a:rPr>
              <a:t> </a:t>
            </a:r>
            <a:r>
              <a:rPr lang="en-US" altLang="ko-KR"/>
              <a:t>Seaborn: 0.13.2</a:t>
            </a:r>
            <a:endParaRPr>
              <a:latin typeface="+mn-ea"/>
              <a:ea typeface="+mn-ea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952500" y="452215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Hardware: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Tesla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T4 15GiB </a:t>
            </a:r>
            <a:endParaRPr>
              <a:latin typeface="+mn-ea"/>
              <a:ea typeface="+mn-ea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952500" y="536924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Clients: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>
                <a:solidFill>
                  <a:srgbClr val="444444"/>
                </a:solidFill>
                <a:latin typeface="+mn-ea"/>
                <a:ea typeface="+mn-ea"/>
              </a:rPr>
              <a:t>3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개 (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가상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클라이언트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)</a:t>
            </a:r>
            <a:endParaRPr>
              <a:latin typeface="+mn-ea"/>
              <a:ea typeface="+mn-ea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952500" y="578834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Communication Rounds: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5회</a:t>
            </a:r>
            <a:endParaRPr>
              <a:latin typeface="+mn-ea"/>
              <a:ea typeface="+mn-ea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952500" y="6207442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Local Epochs: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30회</a:t>
            </a:r>
            <a:endParaRPr>
              <a:latin typeface="+mn-ea"/>
              <a:ea typeface="+mn-ea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762000" y="272891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762000" y="314801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762000" y="452215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762000" y="536924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62000" y="578834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762000" y="6207442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581775" y="3709987"/>
            <a:ext cx="19788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8560593" y="3709987"/>
            <a:ext cx="27170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581775" y="4148137"/>
            <a:ext cx="19788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8560593" y="4148137"/>
            <a:ext cx="27170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581775" y="4586287"/>
            <a:ext cx="19788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8560593" y="4586287"/>
            <a:ext cx="27170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581775" y="5024437"/>
            <a:ext cx="19788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8560593" y="5024437"/>
            <a:ext cx="27170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6581775" y="5462587"/>
            <a:ext cx="197881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8560593" y="5462587"/>
            <a:ext cx="27170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2" name="Google Shape;128;p15">
            <a:extLst>
              <a:ext uri="{FF2B5EF4-FFF2-40B4-BE49-F238E27FC236}">
                <a16:creationId xmlns:a16="http://schemas.microsoft.com/office/drawing/2014/main" id="{DBEDB4F5-B7A4-2153-4304-F936297C0669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" name="Google Shape;129;p15">
            <a:extLst>
              <a:ext uri="{FF2B5EF4-FFF2-40B4-BE49-F238E27FC236}">
                <a16:creationId xmlns:a16="http://schemas.microsoft.com/office/drawing/2014/main" id="{BCBE137B-6820-68DC-4570-6182E2227B02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4" name="Google Shape;130;p15">
            <a:extLst>
              <a:ext uri="{FF2B5EF4-FFF2-40B4-BE49-F238E27FC236}">
                <a16:creationId xmlns:a16="http://schemas.microsoft.com/office/drawing/2014/main" id="{DD8A64EA-9881-71C9-2811-ECD62D5EA421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 b="1">
              <a:latin typeface="+mn-ea"/>
              <a:ea typeface="+mn-ea"/>
            </a:endParaRPr>
          </a:p>
        </p:txBody>
      </p:sp>
      <p:sp>
        <p:nvSpPr>
          <p:cNvPr id="5" name="Google Shape;131;p15">
            <a:extLst>
              <a:ext uri="{FF2B5EF4-FFF2-40B4-BE49-F238E27FC236}">
                <a16:creationId xmlns:a16="http://schemas.microsoft.com/office/drawing/2014/main" id="{890B4550-BC93-747E-7A42-D5E442242CDB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191125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11496675" y="6515100"/>
            <a:ext cx="4095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10 / 14</a:t>
            </a:r>
            <a:endParaRPr>
              <a:latin typeface="+mn-ea"/>
              <a:ea typeface="+mn-ea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결과 1: 중앙집중형 학습 (Baseline)</a:t>
            </a:r>
            <a:endParaRPr>
              <a:latin typeface="+mn-ea"/>
              <a:ea typeface="+mn-ea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666750" y="1666875"/>
            <a:ext cx="10858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연합학습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성능의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기준점이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되는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'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이상적인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(Ideal)'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환경의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결과입니다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>
              <a:latin typeface="+mn-ea"/>
              <a:ea typeface="+mn-ea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933825" y="157150"/>
            <a:ext cx="1076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pic>
        <p:nvPicPr>
          <p:cNvPr id="340" name="Google Shape;340;p22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66750" y="2853331"/>
            <a:ext cx="5191125" cy="285631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2"/>
          <p:cNvSpPr txBox="1"/>
          <p:nvPr/>
        </p:nvSpPr>
        <p:spPr>
          <a:xfrm>
            <a:off x="6581775" y="3195637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Centralized Performance</a:t>
            </a:r>
            <a:endParaRPr>
              <a:latin typeface="+mn-ea"/>
              <a:ea typeface="+mn-ea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6867525" y="3805237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RMSE: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39.52</a:t>
            </a:r>
            <a:endParaRPr>
              <a:latin typeface="+mn-ea"/>
              <a:ea typeface="+mn-ea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6867525" y="4224337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R² Score: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0.425</a:t>
            </a:r>
            <a:endParaRPr>
              <a:latin typeface="+mn-ea"/>
              <a:ea typeface="+mn-ea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6867525" y="4643437"/>
            <a:ext cx="44100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특징: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모든 데이터를 한곳에서 학습했기 때문에 오차가 가장 낮음. (Lower Bound)</a:t>
            </a:r>
            <a:endParaRPr>
              <a:latin typeface="+mn-ea"/>
              <a:ea typeface="+mn-ea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6677025" y="38052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6677025" y="42243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6677025" y="46434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" name="Google Shape;128;p15">
            <a:extLst>
              <a:ext uri="{FF2B5EF4-FFF2-40B4-BE49-F238E27FC236}">
                <a16:creationId xmlns:a16="http://schemas.microsoft.com/office/drawing/2014/main" id="{2AC14FEF-CBA0-E23E-3C7C-46304217166F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" name="Google Shape;129;p15">
            <a:extLst>
              <a:ext uri="{FF2B5EF4-FFF2-40B4-BE49-F238E27FC236}">
                <a16:creationId xmlns:a16="http://schemas.microsoft.com/office/drawing/2014/main" id="{23855608-779E-1C1D-505C-2FBF19135B7D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5" name="Google Shape;130;p15">
            <a:extLst>
              <a:ext uri="{FF2B5EF4-FFF2-40B4-BE49-F238E27FC236}">
                <a16:creationId xmlns:a16="http://schemas.microsoft.com/office/drawing/2014/main" id="{9B793F68-59A6-F346-3D70-E2523750E840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6" name="Google Shape;131;p15">
            <a:extLst>
              <a:ext uri="{FF2B5EF4-FFF2-40B4-BE49-F238E27FC236}">
                <a16:creationId xmlns:a16="http://schemas.microsoft.com/office/drawing/2014/main" id="{12C3D2AB-7158-8806-C7D9-78983E1C66BE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 b="1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66875"/>
            <a:ext cx="5191125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2774602"/>
            <a:ext cx="44100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431827"/>
            <a:ext cx="44100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4089052"/>
            <a:ext cx="44100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4746277"/>
            <a:ext cx="44100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 txBox="1"/>
          <p:nvPr/>
        </p:nvSpPr>
        <p:spPr>
          <a:xfrm>
            <a:off x="11525250" y="6515100"/>
            <a:ext cx="5334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11 / 14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결과 </a:t>
            </a:r>
            <a:r>
              <a:rPr lang="en-US" altLang="ko-KR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2: </a:t>
            </a:r>
            <a:r>
              <a:rPr lang="ko-KR" alt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알고리즘별 성능 비교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1057275" y="5270152"/>
            <a:ext cx="44100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* RMSE (</a:t>
            </a:r>
            <a:r>
              <a:rPr lang="ko-KR" altLang="en-US" sz="105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낮을수록 좋음</a:t>
            </a:r>
            <a:r>
              <a:rPr lang="en-US" altLang="ko-KR" sz="1050" b="0" i="0" u="none" strike="noStrike" cap="none">
                <a:solidFill>
                  <a:srgbClr val="666666"/>
                </a:solidFill>
                <a:latin typeface="+mn-ea"/>
                <a:ea typeface="+mn-ea"/>
                <a:cs typeface="Arial"/>
                <a:sym typeface="Arial"/>
              </a:rPr>
              <a:t>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6334125" y="2928937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결과 분석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1057275" y="2546002"/>
            <a:ext cx="44100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Centralized</a:t>
            </a:r>
            <a:r>
              <a:rPr lang="en-US" sz="12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39.52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69" name="Google Shape;369;p23"/>
          <p:cNvSpPr txBox="1"/>
          <p:nvPr/>
        </p:nvSpPr>
        <p:spPr>
          <a:xfrm>
            <a:off x="1057275" y="3203227"/>
            <a:ext cx="44100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FedAvg</a:t>
            </a:r>
            <a:r>
              <a:rPr lang="en-US" sz="12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41.60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1057275" y="3860452"/>
            <a:ext cx="44100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FedProx</a:t>
            </a:r>
            <a:r>
              <a:rPr lang="en-US" sz="12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40.17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1057275" y="4517677"/>
            <a:ext cx="44100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FedMA</a:t>
            </a:r>
            <a:r>
              <a:rPr lang="en-US" sz="12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39.82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6619875" y="3348037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FedAvg: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가장 높은 오차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(41.60)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를 보임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 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Non-IID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데이터 분포에 취약함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619875" y="407193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FedProx: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규제항 덕분에 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FedAvg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대비 약 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3.5%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성능 개선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6619875" y="4491037"/>
            <a:ext cx="4905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FedMA: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중앙집중형에 가장 근접</a:t>
            </a:r>
            <a:r>
              <a:rPr lang="en-US" altLang="ko-KR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(39.82)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한 성능 달성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복잡한 신경망 구조를 효과적으로 매칭함</a:t>
            </a:r>
            <a:r>
              <a:rPr lang="en-US" altLang="ko-KR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.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1057275" y="2774602"/>
            <a:ext cx="4321819" cy="238125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1057275" y="3431827"/>
            <a:ext cx="3968948" cy="238125"/>
          </a:xfrm>
          <a:prstGeom prst="roundRect">
            <a:avLst>
              <a:gd name="adj" fmla="val 16667"/>
            </a:avLst>
          </a:prstGeom>
          <a:solidFill>
            <a:srgbClr val="002B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1057275" y="4089052"/>
            <a:ext cx="4145458" cy="238125"/>
          </a:xfrm>
          <a:prstGeom prst="roundRect">
            <a:avLst>
              <a:gd name="adj" fmla="val 16667"/>
            </a:avLst>
          </a:prstGeom>
          <a:solidFill>
            <a:srgbClr val="002B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1057275" y="4746277"/>
            <a:ext cx="4277766" cy="238125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6429375" y="33480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6429375" y="40719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6429375" y="449103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2" name="Google Shape;339;p22">
            <a:extLst>
              <a:ext uri="{FF2B5EF4-FFF2-40B4-BE49-F238E27FC236}">
                <a16:creationId xmlns:a16="http://schemas.microsoft.com/office/drawing/2014/main" id="{81CF1D26-2A1C-CEE2-C3EE-919F51C6B1F2}"/>
              </a:ext>
            </a:extLst>
          </p:cNvPr>
          <p:cNvSpPr/>
          <p:nvPr/>
        </p:nvSpPr>
        <p:spPr>
          <a:xfrm>
            <a:off x="3933825" y="157150"/>
            <a:ext cx="1076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" name="Google Shape;128;p15">
            <a:extLst>
              <a:ext uri="{FF2B5EF4-FFF2-40B4-BE49-F238E27FC236}">
                <a16:creationId xmlns:a16="http://schemas.microsoft.com/office/drawing/2014/main" id="{40C1BAC6-47C1-495E-E2A0-A00BB18BEDCE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" name="Google Shape;129;p15">
            <a:extLst>
              <a:ext uri="{FF2B5EF4-FFF2-40B4-BE49-F238E27FC236}">
                <a16:creationId xmlns:a16="http://schemas.microsoft.com/office/drawing/2014/main" id="{AF35804F-03C8-54F1-196F-26E7F69FFB14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What)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5" name="Google Shape;130;p15">
            <a:extLst>
              <a:ext uri="{FF2B5EF4-FFF2-40B4-BE49-F238E27FC236}">
                <a16:creationId xmlns:a16="http://schemas.microsoft.com/office/drawing/2014/main" id="{13720B49-A68B-C0D7-1534-A0D62251087D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ko-KR" alt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ko-KR" alt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How)</a:t>
            </a:r>
            <a:endParaRPr lang="en-US">
              <a:latin typeface="+mn-ea"/>
              <a:ea typeface="+mn-ea"/>
            </a:endParaRPr>
          </a:p>
        </p:txBody>
      </p:sp>
      <p:sp>
        <p:nvSpPr>
          <p:cNvPr id="6" name="Google Shape;131;p15">
            <a:extLst>
              <a:ext uri="{FF2B5EF4-FFF2-40B4-BE49-F238E27FC236}">
                <a16:creationId xmlns:a16="http://schemas.microsoft.com/office/drawing/2014/main" id="{49B1B7ED-41E0-056E-FF21-5B9C18504724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ko-KR" alt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ko-KR" alt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Result)</a:t>
            </a:r>
            <a:endParaRPr lang="en-US" b="1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66875"/>
            <a:ext cx="5191125" cy="41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66875"/>
            <a:ext cx="5191125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4"/>
          <p:cNvSpPr txBox="1"/>
          <p:nvPr/>
        </p:nvSpPr>
        <p:spPr>
          <a:xfrm>
            <a:off x="11506200" y="6515100"/>
            <a:ext cx="552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12 / 14</a:t>
            </a:r>
            <a:endParaRPr>
              <a:latin typeface="+mn-ea"/>
              <a:ea typeface="+mn-ea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추가 분석: PCA 적용 효과 (Ablation Study)</a:t>
            </a:r>
            <a:endParaRPr>
              <a:latin typeface="+mn-ea"/>
              <a:ea typeface="+mn-ea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666750" y="6057900"/>
            <a:ext cx="10858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결론: 복잡한 센서 데이터(FD004)에서는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차원 축소가 필수적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임을 확인.</a:t>
            </a:r>
            <a:endParaRPr>
              <a:latin typeface="+mn-ea"/>
              <a:ea typeface="+mn-ea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914400" y="2809875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0000"/>
                </a:solidFill>
                <a:latin typeface="+mn-ea"/>
                <a:ea typeface="+mn-ea"/>
                <a:cs typeface="Arial"/>
                <a:sym typeface="Arial"/>
              </a:rPr>
              <a:t>Without PCA (원본 데이터)</a:t>
            </a:r>
            <a:endParaRPr>
              <a:latin typeface="+mn-ea"/>
              <a:ea typeface="+mn-ea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914400" y="3228975"/>
            <a:ext cx="4695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센서 데이터의 노이즈가 그대로 학습됨</a:t>
            </a:r>
            <a:endParaRPr>
              <a:latin typeface="+mn-ea"/>
              <a:ea typeface="+mn-ea"/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914400" y="3838575"/>
            <a:ext cx="4695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RMSE: 43.49</a:t>
            </a:r>
            <a:endParaRPr>
              <a:latin typeface="+mn-ea"/>
              <a:ea typeface="+mn-ea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914400" y="4210050"/>
            <a:ext cx="4695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예측 그래프가 매우 불안정함</a:t>
            </a:r>
            <a:endParaRPr>
              <a:latin typeface="+mn-ea"/>
              <a:ea typeface="+mn-ea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6581775" y="2809875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With PCA (3 Components)</a:t>
            </a:r>
            <a:endParaRPr>
              <a:latin typeface="+mn-ea"/>
              <a:ea typeface="+mn-ea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6581775" y="3228975"/>
            <a:ext cx="4695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주요 특징만 추출하여 노이즈 제거</a:t>
            </a:r>
            <a:endParaRPr>
              <a:latin typeface="+mn-ea"/>
              <a:ea typeface="+mn-ea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6581775" y="3838575"/>
            <a:ext cx="4695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RMSE: 39.52</a:t>
            </a:r>
            <a:endParaRPr>
              <a:latin typeface="+mn-ea"/>
              <a:ea typeface="+mn-ea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6581775" y="4210050"/>
            <a:ext cx="46958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성능 약 </a:t>
            </a:r>
            <a:r>
              <a:rPr lang="en-US" sz="1500" b="1">
                <a:solidFill>
                  <a:srgbClr val="444444"/>
                </a:solidFill>
                <a:latin typeface="+mn-ea"/>
                <a:ea typeface="+mn-ea"/>
              </a:rPr>
              <a:t>17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% 향상</a:t>
            </a:r>
            <a:endParaRPr>
              <a:latin typeface="+mn-ea"/>
              <a:ea typeface="+mn-ea"/>
            </a:endParaRPr>
          </a:p>
        </p:txBody>
      </p:sp>
      <p:sp>
        <p:nvSpPr>
          <p:cNvPr id="2" name="Google Shape;339;p22">
            <a:extLst>
              <a:ext uri="{FF2B5EF4-FFF2-40B4-BE49-F238E27FC236}">
                <a16:creationId xmlns:a16="http://schemas.microsoft.com/office/drawing/2014/main" id="{01D01E88-1F5D-43B6-253B-794F088A0C85}"/>
              </a:ext>
            </a:extLst>
          </p:cNvPr>
          <p:cNvSpPr/>
          <p:nvPr/>
        </p:nvSpPr>
        <p:spPr>
          <a:xfrm>
            <a:off x="3933825" y="157150"/>
            <a:ext cx="1076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4" name="Google Shape;128;p15">
            <a:extLst>
              <a:ext uri="{FF2B5EF4-FFF2-40B4-BE49-F238E27FC236}">
                <a16:creationId xmlns:a16="http://schemas.microsoft.com/office/drawing/2014/main" id="{02BF66D7-F4F4-C035-6AB1-89E976896C2A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5" name="Google Shape;129;p15">
            <a:extLst>
              <a:ext uri="{FF2B5EF4-FFF2-40B4-BE49-F238E27FC236}">
                <a16:creationId xmlns:a16="http://schemas.microsoft.com/office/drawing/2014/main" id="{E141CE92-3A7A-E7BC-272D-B64326B28B7D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6" name="Google Shape;130;p15">
            <a:extLst>
              <a:ext uri="{FF2B5EF4-FFF2-40B4-BE49-F238E27FC236}">
                <a16:creationId xmlns:a16="http://schemas.microsoft.com/office/drawing/2014/main" id="{69E2D281-F3F2-2BF2-8434-85DBF671B359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7" name="Google Shape;131;p15">
            <a:extLst>
              <a:ext uri="{FF2B5EF4-FFF2-40B4-BE49-F238E27FC236}">
                <a16:creationId xmlns:a16="http://schemas.microsoft.com/office/drawing/2014/main" id="{C356D31C-EBEC-4B1F-679E-95E274A4CE12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 b="1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30;p22" descr="image.png">
            <a:extLst>
              <a:ext uri="{FF2B5EF4-FFF2-40B4-BE49-F238E27FC236}">
                <a16:creationId xmlns:a16="http://schemas.microsoft.com/office/drawing/2014/main" id="{BE85E948-A51C-53A6-1199-E592066278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85975"/>
            <a:ext cx="5191125" cy="43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5"/>
          <p:cNvSpPr txBox="1"/>
          <p:nvPr/>
        </p:nvSpPr>
        <p:spPr>
          <a:xfrm>
            <a:off x="11526520" y="6515100"/>
            <a:ext cx="5524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13 / 14</a:t>
            </a:r>
            <a:endParaRPr>
              <a:latin typeface="+mn-ea"/>
              <a:ea typeface="+mn-ea"/>
            </a:endParaRPr>
          </a:p>
        </p:txBody>
      </p:sp>
      <p:sp>
        <p:nvSpPr>
          <p:cNvPr id="416" name="Google Shape;416;p25"/>
          <p:cNvSpPr txBox="1"/>
          <p:nvPr/>
        </p:nvSpPr>
        <p:spPr>
          <a:xfrm>
            <a:off x="857250" y="952500"/>
            <a:ext cx="112014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최종 예측 결과 시각화 (FedMA)</a:t>
            </a:r>
            <a:endParaRPr>
              <a:latin typeface="+mn-ea"/>
              <a:ea typeface="+mn-ea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666750" y="952500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66750" y="2784919"/>
            <a:ext cx="5191125" cy="257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 txBox="1"/>
          <p:nvPr/>
        </p:nvSpPr>
        <p:spPr>
          <a:xfrm>
            <a:off x="6354445" y="3786187"/>
            <a:ext cx="54506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그래프 해석</a:t>
            </a:r>
            <a:endParaRPr>
              <a:latin typeface="+mn-ea"/>
              <a:ea typeface="+mn-ea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6640195" y="420528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X축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엔진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유닛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인덱스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/ </a:t>
            </a:r>
            <a:r>
              <a:rPr lang="en-US" sz="1500" b="1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Y축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잔존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수명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(RUL)</a:t>
            </a:r>
            <a:endParaRPr>
              <a:latin typeface="+mn-ea"/>
              <a:ea typeface="+mn-ea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6640195" y="462438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err="1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초록색</a:t>
            </a:r>
            <a:r>
              <a:rPr lang="en-US" sz="1500" b="1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1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점</a:t>
            </a:r>
            <a:r>
              <a:rPr lang="en-US" sz="1500" b="1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실제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정답값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(Ground Truth)</a:t>
            </a:r>
            <a:endParaRPr>
              <a:latin typeface="+mn-ea"/>
              <a:ea typeface="+mn-ea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6640195" y="5043487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파란색 점: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FedMA 모델의 예측값</a:t>
            </a:r>
            <a:endParaRPr>
              <a:latin typeface="+mn-ea"/>
              <a:ea typeface="+mn-ea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6640195" y="5462587"/>
            <a:ext cx="49053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>
                <a:latin typeface="+mn-ea"/>
                <a:ea typeface="+mn-ea"/>
              </a:rPr>
              <a:t>RUL </a:t>
            </a:r>
            <a:r>
              <a:rPr lang="ko-KR" altLang="en-US">
                <a:latin typeface="+mn-ea"/>
                <a:ea typeface="+mn-ea"/>
              </a:rPr>
              <a:t>값이 낮은 구간을 잘 따라잡지 못하고 있으나</a:t>
            </a:r>
            <a:r>
              <a:rPr lang="en-US" altLang="ko-KR">
                <a:latin typeface="+mn-ea"/>
                <a:ea typeface="+mn-ea"/>
              </a:rPr>
              <a:t>,</a:t>
            </a:r>
            <a:r>
              <a:rPr lang="ko-KR" altLang="en-US">
                <a:latin typeface="+mn-ea"/>
                <a:ea typeface="+mn-ea"/>
              </a:rPr>
              <a:t> </a:t>
            </a:r>
            <a:r>
              <a:rPr lang="ko-KR" altLang="en-US" err="1">
                <a:latin typeface="+mn-ea"/>
                <a:ea typeface="+mn-ea"/>
              </a:rPr>
              <a:t>클리핑한</a:t>
            </a:r>
            <a:r>
              <a:rPr lang="ko-KR" altLang="en-US">
                <a:latin typeface="+mn-ea"/>
                <a:ea typeface="+mn-ea"/>
              </a:rPr>
              <a:t> </a:t>
            </a:r>
            <a:r>
              <a:rPr lang="en-US" altLang="ko-KR">
                <a:latin typeface="+mn-ea"/>
                <a:ea typeface="+mn-ea"/>
              </a:rPr>
              <a:t>125</a:t>
            </a:r>
            <a:r>
              <a:rPr lang="ko-KR" altLang="en-US">
                <a:latin typeface="+mn-ea"/>
                <a:ea typeface="+mn-ea"/>
              </a:rPr>
              <a:t>를 넘지 않는 구간 안에서 </a:t>
            </a:r>
            <a:r>
              <a:rPr lang="en-US" altLang="ko-KR">
                <a:latin typeface="+mn-ea"/>
                <a:ea typeface="+mn-ea"/>
              </a:rPr>
              <a:t>125</a:t>
            </a:r>
            <a:r>
              <a:rPr lang="ko-KR" altLang="en-US">
                <a:latin typeface="+mn-ea"/>
                <a:ea typeface="+mn-ea"/>
              </a:rPr>
              <a:t>를 넘긴 구간의 추세를 따라가려는 모습을 보여주고 있음</a:t>
            </a:r>
            <a:endParaRPr>
              <a:latin typeface="+mn-ea"/>
              <a:ea typeface="+mn-ea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6449695" y="42052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426" name="Google Shape;426;p25"/>
          <p:cNvSpPr txBox="1"/>
          <p:nvPr/>
        </p:nvSpPr>
        <p:spPr>
          <a:xfrm>
            <a:off x="6449695" y="46243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6449695" y="50434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428" name="Google Shape;428;p25"/>
          <p:cNvSpPr txBox="1"/>
          <p:nvPr/>
        </p:nvSpPr>
        <p:spPr>
          <a:xfrm>
            <a:off x="6449695" y="5462587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2" name="Google Shape;339;p22">
            <a:extLst>
              <a:ext uri="{FF2B5EF4-FFF2-40B4-BE49-F238E27FC236}">
                <a16:creationId xmlns:a16="http://schemas.microsoft.com/office/drawing/2014/main" id="{499E4418-26CD-D826-E6D3-B38B8FC5AFC9}"/>
              </a:ext>
            </a:extLst>
          </p:cNvPr>
          <p:cNvSpPr/>
          <p:nvPr/>
        </p:nvSpPr>
        <p:spPr>
          <a:xfrm>
            <a:off x="3933825" y="157150"/>
            <a:ext cx="1076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5" name="Google Shape;128;p15">
            <a:extLst>
              <a:ext uri="{FF2B5EF4-FFF2-40B4-BE49-F238E27FC236}">
                <a16:creationId xmlns:a16="http://schemas.microsoft.com/office/drawing/2014/main" id="{11DFDDA8-A5F6-E020-4E5A-88CBF5DC128B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36267317-8782-1F59-D3C1-C2B1C8811C95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7" name="Google Shape;130;p15">
            <a:extLst>
              <a:ext uri="{FF2B5EF4-FFF2-40B4-BE49-F238E27FC236}">
                <a16:creationId xmlns:a16="http://schemas.microsoft.com/office/drawing/2014/main" id="{7044923C-853C-584B-0618-4E4EA454E16A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8" name="Google Shape;131;p15">
            <a:extLst>
              <a:ext uri="{FF2B5EF4-FFF2-40B4-BE49-F238E27FC236}">
                <a16:creationId xmlns:a16="http://schemas.microsoft.com/office/drawing/2014/main" id="{AC64EEAE-6B49-C60A-AC94-92C136DB365F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 b="1">
              <a:latin typeface="+mn-ea"/>
              <a:ea typeface="+mn-ea"/>
            </a:endParaRPr>
          </a:p>
        </p:txBody>
      </p:sp>
      <p:sp>
        <p:nvSpPr>
          <p:cNvPr id="10" name="Google Shape;341;p22">
            <a:extLst>
              <a:ext uri="{FF2B5EF4-FFF2-40B4-BE49-F238E27FC236}">
                <a16:creationId xmlns:a16="http://schemas.microsoft.com/office/drawing/2014/main" id="{4199638B-0C13-D2AB-1508-EB7503D280E6}"/>
              </a:ext>
            </a:extLst>
          </p:cNvPr>
          <p:cNvSpPr txBox="1"/>
          <p:nvPr/>
        </p:nvSpPr>
        <p:spPr>
          <a:xfrm>
            <a:off x="6354445" y="2247899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33"/>
                </a:solidFill>
                <a:latin typeface="+mn-ea"/>
                <a:ea typeface="+mn-ea"/>
              </a:rPr>
              <a:t>Matched Averaging</a:t>
            </a:r>
            <a:r>
              <a:rPr lang="en-US" sz="1800" b="1" i="0" u="none" strike="noStrike" cap="none">
                <a:solidFill>
                  <a:srgbClr val="333333"/>
                </a:solidFill>
                <a:latin typeface="+mn-ea"/>
                <a:ea typeface="+mn-ea"/>
                <a:cs typeface="Arial"/>
                <a:sym typeface="Arial"/>
              </a:rPr>
              <a:t> Performance</a:t>
            </a:r>
            <a:endParaRPr>
              <a:latin typeface="+mn-ea"/>
              <a:ea typeface="+mn-ea"/>
            </a:endParaRPr>
          </a:p>
        </p:txBody>
      </p:sp>
      <p:sp>
        <p:nvSpPr>
          <p:cNvPr id="11" name="Google Shape;342;p22">
            <a:extLst>
              <a:ext uri="{FF2B5EF4-FFF2-40B4-BE49-F238E27FC236}">
                <a16:creationId xmlns:a16="http://schemas.microsoft.com/office/drawing/2014/main" id="{F413F71E-3D0D-84C5-DFEE-E3EC2096141B}"/>
              </a:ext>
            </a:extLst>
          </p:cNvPr>
          <p:cNvSpPr txBox="1"/>
          <p:nvPr/>
        </p:nvSpPr>
        <p:spPr>
          <a:xfrm>
            <a:off x="6640195" y="2857499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RMSE: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39.82</a:t>
            </a:r>
            <a:endParaRPr>
              <a:latin typeface="+mn-ea"/>
              <a:ea typeface="+mn-ea"/>
            </a:endParaRPr>
          </a:p>
        </p:txBody>
      </p:sp>
      <p:sp>
        <p:nvSpPr>
          <p:cNvPr id="12" name="Google Shape;343;p22">
            <a:extLst>
              <a:ext uri="{FF2B5EF4-FFF2-40B4-BE49-F238E27FC236}">
                <a16:creationId xmlns:a16="http://schemas.microsoft.com/office/drawing/2014/main" id="{A2C3E648-0A9B-9B7C-E0A1-B9809562C71F}"/>
              </a:ext>
            </a:extLst>
          </p:cNvPr>
          <p:cNvSpPr txBox="1"/>
          <p:nvPr/>
        </p:nvSpPr>
        <p:spPr>
          <a:xfrm>
            <a:off x="6640195" y="3276599"/>
            <a:ext cx="4410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R² Score: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0.407</a:t>
            </a:r>
            <a:endParaRPr>
              <a:latin typeface="+mn-ea"/>
              <a:ea typeface="+mn-ea"/>
            </a:endParaRPr>
          </a:p>
        </p:txBody>
      </p:sp>
      <p:sp>
        <p:nvSpPr>
          <p:cNvPr id="13" name="Google Shape;345;p22">
            <a:extLst>
              <a:ext uri="{FF2B5EF4-FFF2-40B4-BE49-F238E27FC236}">
                <a16:creationId xmlns:a16="http://schemas.microsoft.com/office/drawing/2014/main" id="{034E848B-EC0C-52F4-2251-6B5AAA5B63C4}"/>
              </a:ext>
            </a:extLst>
          </p:cNvPr>
          <p:cNvSpPr txBox="1"/>
          <p:nvPr/>
        </p:nvSpPr>
        <p:spPr>
          <a:xfrm>
            <a:off x="6449695" y="2857499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14" name="Google Shape;346;p22">
            <a:extLst>
              <a:ext uri="{FF2B5EF4-FFF2-40B4-BE49-F238E27FC236}">
                <a16:creationId xmlns:a16="http://schemas.microsoft.com/office/drawing/2014/main" id="{61783244-B6BC-4BCD-9AE6-2CAD980FB49F}"/>
              </a:ext>
            </a:extLst>
          </p:cNvPr>
          <p:cNvSpPr txBox="1"/>
          <p:nvPr/>
        </p:nvSpPr>
        <p:spPr>
          <a:xfrm>
            <a:off x="6449695" y="3276599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/>
          <p:nvPr/>
        </p:nvSpPr>
        <p:spPr>
          <a:xfrm>
            <a:off x="11496675" y="6515100"/>
            <a:ext cx="4095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+mn-ea"/>
                <a:ea typeface="+mn-ea"/>
                <a:cs typeface="Arial"/>
                <a:sym typeface="Arial"/>
              </a:rPr>
              <a:t>14 / 14</a:t>
            </a:r>
            <a:endParaRPr>
              <a:latin typeface="+mn-ea"/>
              <a:ea typeface="+mn-ea"/>
            </a:endParaRPr>
          </a:p>
        </p:txBody>
      </p:sp>
      <p:pic>
        <p:nvPicPr>
          <p:cNvPr id="441" name="Google Shape;44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625" y="942975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6"/>
          <p:cNvSpPr txBox="1"/>
          <p:nvPr/>
        </p:nvSpPr>
        <p:spPr>
          <a:xfrm>
            <a:off x="4220209" y="1988939"/>
            <a:ext cx="375158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결론</a:t>
            </a: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및 </a:t>
            </a:r>
            <a:r>
              <a:rPr 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향후</a:t>
            </a: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연구</a:t>
            </a:r>
            <a:r>
              <a:rPr lang="en-US" sz="2850" b="1" i="0" u="none" strike="noStrike" cap="none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2850" b="1" i="0" u="none" strike="noStrike" cap="none" err="1">
                <a:solidFill>
                  <a:srgbClr val="002B5C"/>
                </a:solidFill>
                <a:latin typeface="+mn-ea"/>
                <a:ea typeface="+mn-ea"/>
                <a:cs typeface="Arial"/>
                <a:sym typeface="Arial"/>
              </a:rPr>
              <a:t>과제</a:t>
            </a:r>
            <a:endParaRPr>
              <a:latin typeface="+mn-ea"/>
              <a:ea typeface="+mn-ea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3941127" y="1990725"/>
            <a:ext cx="57150" cy="428625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9CBF4D-584C-C121-0055-852636F59774}"/>
              </a:ext>
            </a:extLst>
          </p:cNvPr>
          <p:cNvGrpSpPr/>
          <p:nvPr/>
        </p:nvGrpSpPr>
        <p:grpSpPr>
          <a:xfrm>
            <a:off x="1809750" y="2895600"/>
            <a:ext cx="8728710" cy="3548063"/>
            <a:chOff x="1809750" y="2895600"/>
            <a:chExt cx="8728710" cy="7353300"/>
          </a:xfrm>
        </p:grpSpPr>
        <p:pic>
          <p:nvPicPr>
            <p:cNvPr id="434" name="Google Shape;434;p2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09750" y="2895600"/>
              <a:ext cx="8572500" cy="358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2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09750" y="6667500"/>
              <a:ext cx="8572500" cy="358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6"/>
            <p:cNvSpPr txBox="1"/>
            <p:nvPr/>
          </p:nvSpPr>
          <p:spPr>
            <a:xfrm>
              <a:off x="2057400" y="4114800"/>
              <a:ext cx="8481060" cy="574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333333"/>
                  </a:solidFill>
                  <a:latin typeface="+mn-ea"/>
                  <a:ea typeface="+mn-ea"/>
                  <a:cs typeface="Arial"/>
                  <a:sym typeface="Arial"/>
                </a:rPr>
                <a:t>연구 결론</a:t>
              </a:r>
              <a:endParaRPr>
                <a:latin typeface="+mn-ea"/>
                <a:ea typeface="+mn-ea"/>
              </a:endParaRPr>
            </a:p>
          </p:txBody>
        </p:sp>
        <p:sp>
          <p:nvSpPr>
            <p:cNvPr id="446" name="Google Shape;446;p26"/>
            <p:cNvSpPr txBox="1"/>
            <p:nvPr/>
          </p:nvSpPr>
          <p:spPr>
            <a:xfrm>
              <a:off x="2057400" y="4533900"/>
              <a:ext cx="8077200" cy="15308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연합학습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(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FedMA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)과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차원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축소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(PCA)를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결합하여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,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데이터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유출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없이도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중앙집중형에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버금가</a:t>
              </a:r>
              <a:r>
                <a:rPr lang="ko-KR" alt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는</a:t>
              </a:r>
              <a:b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</a:b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RUL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예측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성능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을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확보했습니다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.</a:t>
              </a:r>
              <a:endParaRPr>
                <a:latin typeface="+mn-ea"/>
                <a:ea typeface="+mn-ea"/>
              </a:endParaRPr>
            </a:p>
          </p:txBody>
        </p:sp>
        <p:sp>
          <p:nvSpPr>
            <p:cNvPr id="447" name="Google Shape;447;p26"/>
            <p:cNvSpPr txBox="1"/>
            <p:nvPr/>
          </p:nvSpPr>
          <p:spPr>
            <a:xfrm>
              <a:off x="2057400" y="7829550"/>
              <a:ext cx="8481060" cy="574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333333"/>
                  </a:solidFill>
                  <a:latin typeface="+mn-ea"/>
                  <a:ea typeface="+mn-ea"/>
                  <a:cs typeface="Arial"/>
                  <a:sym typeface="Arial"/>
                </a:rPr>
                <a:t>향후 과제 (Future Work)</a:t>
              </a:r>
              <a:endParaRPr>
                <a:latin typeface="+mn-ea"/>
                <a:ea typeface="+mn-ea"/>
              </a:endParaRPr>
            </a:p>
          </p:txBody>
        </p:sp>
        <p:sp>
          <p:nvSpPr>
            <p:cNvPr id="448" name="Google Shape;448;p26"/>
            <p:cNvSpPr txBox="1"/>
            <p:nvPr/>
          </p:nvSpPr>
          <p:spPr>
            <a:xfrm>
              <a:off x="2343150" y="8248649"/>
              <a:ext cx="7791450" cy="765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통신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1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효율성</a:t>
              </a:r>
              <a:r>
                <a:rPr lang="en-US" sz="1500" b="1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: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FedMA의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높은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통신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비용을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줄이기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위한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경량화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en-US" sz="1500" b="0" i="0" u="none" strike="noStrike" cap="none" err="1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연구</a:t>
              </a:r>
              <a:r>
                <a:rPr 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 </a:t>
              </a:r>
              <a:r>
                <a:rPr lang="ko-KR" altLang="en-US" sz="1500" b="0" i="0" u="none" strike="noStrike" cap="none">
                  <a:solidFill>
                    <a:srgbClr val="444444"/>
                  </a:solidFill>
                  <a:latin typeface="+mn-ea"/>
                  <a:ea typeface="+mn-ea"/>
                  <a:cs typeface="Arial"/>
                  <a:sym typeface="Arial"/>
                </a:rPr>
                <a:t>필요</a:t>
              </a:r>
              <a:endParaRPr>
                <a:latin typeface="+mn-ea"/>
                <a:ea typeface="+mn-ea"/>
              </a:endParaRPr>
            </a:p>
          </p:txBody>
        </p:sp>
      </p:grpSp>
      <p:sp>
        <p:nvSpPr>
          <p:cNvPr id="449" name="Google Shape;449;p26"/>
          <p:cNvSpPr txBox="1"/>
          <p:nvPr/>
        </p:nvSpPr>
        <p:spPr>
          <a:xfrm>
            <a:off x="2343150" y="5741670"/>
            <a:ext cx="779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이질적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1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모델</a:t>
            </a:r>
            <a:r>
              <a:rPr lang="en-US" sz="1500" b="1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클라이언트마다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다른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모델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구조를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가지는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환경에서의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FL </a:t>
            </a:r>
            <a:r>
              <a:rPr lang="en-US" sz="1500" b="0" i="0" u="none" strike="noStrike" cap="none" err="1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연구</a:t>
            </a:r>
            <a:r>
              <a:rPr 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500" b="0" i="0" u="none" strike="noStrike" cap="none">
                <a:solidFill>
                  <a:srgbClr val="444444"/>
                </a:solidFill>
                <a:latin typeface="+mn-ea"/>
                <a:ea typeface="+mn-ea"/>
                <a:cs typeface="Arial"/>
                <a:sym typeface="Arial"/>
              </a:rPr>
              <a:t>필요</a:t>
            </a:r>
            <a:endParaRPr>
              <a:latin typeface="+mn-ea"/>
              <a:ea typeface="+mn-ea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2257425" y="5444490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451" name="Google Shape;451;p26"/>
          <p:cNvSpPr txBox="1"/>
          <p:nvPr/>
        </p:nvSpPr>
        <p:spPr>
          <a:xfrm>
            <a:off x="2257425" y="5741670"/>
            <a:ext cx="85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1B23"/>
                </a:solidFill>
                <a:latin typeface="+mn-ea"/>
                <a:ea typeface="+mn-ea"/>
                <a:cs typeface="Arial"/>
                <a:sym typeface="Arial"/>
              </a:rPr>
              <a:t>•</a:t>
            </a:r>
            <a:endParaRPr>
              <a:latin typeface="+mn-ea"/>
              <a:ea typeface="+mn-ea"/>
            </a:endParaRPr>
          </a:p>
        </p:txBody>
      </p:sp>
      <p:sp>
        <p:nvSpPr>
          <p:cNvPr id="3" name="Google Shape;339;p22">
            <a:extLst>
              <a:ext uri="{FF2B5EF4-FFF2-40B4-BE49-F238E27FC236}">
                <a16:creationId xmlns:a16="http://schemas.microsoft.com/office/drawing/2014/main" id="{C9D9B617-40D0-929C-3B36-86F39A4B6E9D}"/>
              </a:ext>
            </a:extLst>
          </p:cNvPr>
          <p:cNvSpPr/>
          <p:nvPr/>
        </p:nvSpPr>
        <p:spPr>
          <a:xfrm>
            <a:off x="3933825" y="157150"/>
            <a:ext cx="1076400" cy="38100"/>
          </a:xfrm>
          <a:prstGeom prst="roundRect">
            <a:avLst>
              <a:gd name="adj" fmla="val 16667"/>
            </a:avLst>
          </a:prstGeom>
          <a:solidFill>
            <a:srgbClr val="E31B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sp>
        <p:nvSpPr>
          <p:cNvPr id="4" name="Google Shape;128;p15">
            <a:extLst>
              <a:ext uri="{FF2B5EF4-FFF2-40B4-BE49-F238E27FC236}">
                <a16:creationId xmlns:a16="http://schemas.microsoft.com/office/drawing/2014/main" id="{CC5E92A6-5FEE-C5C0-23ED-CB5A91AF798A}"/>
              </a:ext>
            </a:extLst>
          </p:cNvPr>
          <p:cNvSpPr txBox="1"/>
          <p:nvPr/>
        </p:nvSpPr>
        <p:spPr>
          <a:xfrm>
            <a:off x="381000" y="175890"/>
            <a:ext cx="10666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en-US" sz="120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서론</a:t>
            </a:r>
            <a:r>
              <a:rPr lang="en-US" sz="1200">
                <a:solidFill>
                  <a:srgbClr val="FFFFFF"/>
                </a:solidFill>
                <a:latin typeface="+mn-ea"/>
                <a:ea typeface="+mn-ea"/>
              </a:rPr>
              <a:t> </a:t>
            </a:r>
            <a:r>
              <a:rPr lang="en-US" sz="120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(Why)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5" name="Google Shape;129;p15">
            <a:extLst>
              <a:ext uri="{FF2B5EF4-FFF2-40B4-BE49-F238E27FC236}">
                <a16:creationId xmlns:a16="http://schemas.microsoft.com/office/drawing/2014/main" id="{BC317728-2E80-D31E-3636-F65EECBA7810}"/>
              </a:ext>
            </a:extLst>
          </p:cNvPr>
          <p:cNvSpPr txBox="1"/>
          <p:nvPr/>
        </p:nvSpPr>
        <p:spPr>
          <a:xfrm>
            <a:off x="1552575" y="175890"/>
            <a:ext cx="11397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이론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(What)</a:t>
            </a:r>
            <a:endParaRPr>
              <a:latin typeface="+mn-ea"/>
              <a:ea typeface="+mn-ea"/>
            </a:endParaRPr>
          </a:p>
        </p:txBody>
      </p:sp>
      <p:sp>
        <p:nvSpPr>
          <p:cNvPr id="6" name="Google Shape;130;p15">
            <a:extLst>
              <a:ext uri="{FF2B5EF4-FFF2-40B4-BE49-F238E27FC236}">
                <a16:creationId xmlns:a16="http://schemas.microsoft.com/office/drawing/2014/main" id="{4AC646C6-AB6B-6628-B26A-F20B96E38B65}"/>
              </a:ext>
            </a:extLst>
          </p:cNvPr>
          <p:cNvSpPr txBox="1"/>
          <p:nvPr/>
        </p:nvSpPr>
        <p:spPr>
          <a:xfrm>
            <a:off x="2790825" y="175890"/>
            <a:ext cx="111184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en-US" sz="1200" b="0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구현</a:t>
            </a:r>
            <a:r>
              <a:rPr lang="en-US" sz="1200" b="0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(How)</a:t>
            </a:r>
            <a:endParaRPr>
              <a:latin typeface="+mn-ea"/>
              <a:ea typeface="+mn-ea"/>
            </a:endParaRPr>
          </a:p>
        </p:txBody>
      </p:sp>
      <p:sp>
        <p:nvSpPr>
          <p:cNvPr id="7" name="Google Shape;131;p15">
            <a:extLst>
              <a:ext uri="{FF2B5EF4-FFF2-40B4-BE49-F238E27FC236}">
                <a16:creationId xmlns:a16="http://schemas.microsoft.com/office/drawing/2014/main" id="{145134F4-C3D8-99F0-096B-E1696DC48E05}"/>
              </a:ext>
            </a:extLst>
          </p:cNvPr>
          <p:cNvSpPr txBox="1"/>
          <p:nvPr/>
        </p:nvSpPr>
        <p:spPr>
          <a:xfrm>
            <a:off x="3962400" y="175890"/>
            <a:ext cx="126795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결과</a:t>
            </a:r>
            <a:r>
              <a:rPr lang="en-US" sz="1200" b="1" i="0" u="none" strike="noStrike" cap="none">
                <a:solidFill>
                  <a:srgbClr val="FFFFFF"/>
                </a:solidFill>
                <a:latin typeface="+mn-ea"/>
                <a:ea typeface="+mn-ea"/>
                <a:cs typeface="Arial"/>
                <a:sym typeface="Arial"/>
              </a:rPr>
              <a:t> (Result)</a:t>
            </a:r>
            <a:endParaRPr b="1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944CDD90490D41B2B139538D6ADD9C" ma:contentTypeVersion="6" ma:contentTypeDescription="새 문서를 만듭니다." ma:contentTypeScope="" ma:versionID="b93b5a3b39b78e75c526f2c2b8869c9f">
  <xsd:schema xmlns:xsd="http://www.w3.org/2001/XMLSchema" xmlns:xs="http://www.w3.org/2001/XMLSchema" xmlns:p="http://schemas.microsoft.com/office/2006/metadata/properties" xmlns:ns3="a922c61e-04a2-4830-9b53-e9658212c7c6" targetNamespace="http://schemas.microsoft.com/office/2006/metadata/properties" ma:root="true" ma:fieldsID="882adfe15b6415e444fefbf162c8c556" ns3:_="">
    <xsd:import namespace="a922c61e-04a2-4830-9b53-e9658212c7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2c61e-04a2-4830-9b53-e9658212c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22c61e-04a2-4830-9b53-e9658212c7c6" xsi:nil="true"/>
  </documentManagement>
</p:properties>
</file>

<file path=customXml/itemProps1.xml><?xml version="1.0" encoding="utf-8"?>
<ds:datastoreItem xmlns:ds="http://schemas.openxmlformats.org/officeDocument/2006/customXml" ds:itemID="{9EE13416-358F-4DE5-B3A6-0C045EB41432}">
  <ds:schemaRefs>
    <ds:schemaRef ds:uri="a922c61e-04a2-4830-9b53-e9658212c7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5C6915-90B5-44CE-B2EC-9F3165C3B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52C1E6-522E-4E6E-9CEE-CB558131175E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a922c61e-04a2-4830-9b53-e9658212c7c6"/>
    <ds:schemaRef ds:uri="http://www.w3.org/XML/1998/namespace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</Words>
  <Application>Microsoft Office PowerPoint</Application>
  <PresentationFormat>와이드스크린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강한성;이기민</dc:creator>
  <cp:lastModifiedBy>강한성</cp:lastModifiedBy>
  <cp:revision>1</cp:revision>
  <dcterms:modified xsi:type="dcterms:W3CDTF">2025-11-26T13:24:47Z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0x0101001D944CDD90490D41B2B139538D6ADD9C</vt:lpwstr>
  </property>
</Properties>
</file>